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64592" cy="67482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280160"/>
            <a:ext cx="8503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X-Health Default
Prediction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8803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0E0EF"/>
                </a:solidFill>
                <a:latin typeface="Calibri"/>
              </a:rPr>
              <a:t>Machine Learning for Credit Risk in B2B Healthcare Equipment Sales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429000"/>
            <a:ext cx="85039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566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  <a:latin typeface="Calibri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X-Health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566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Kognita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566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February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19" y="35661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0E0EF"/>
                </a:solidFill>
                <a:latin typeface="Calibri"/>
              </a:rPr>
              <a:t>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19" y="3794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v3.4.0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What we will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Business Context &amp; 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1732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158191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8775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42316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4688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58775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Feature Engineering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747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9359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Modeling &amp; Evaluation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342900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47472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59359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Model Interpretability (SHAP)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3484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994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Threshold Optimization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443484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4805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59943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Results &amp; Key Metrics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4068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4864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Prediction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5440680"/>
            <a:ext cx="3931920" cy="7772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54864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B4D8"/>
                </a:solidFill>
                <a:latin typeface="Calibr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5605272"/>
            <a:ext cx="3246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Conclusions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Business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01 —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02336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  <a:latin typeface="Calibri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3736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0B4D8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X-Health sells health electronic devices in B2B credit-based transactions</a:t>
            </a:r>
          </a:p>
          <a:p>
            <a:pPr algn="l"/>
            <a:r>
              <a:rPr sz="1200">
                <a:solidFill>
                  <a:srgbClr val="00B4D8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Buyers pay in lump sum or installments after delivery</a:t>
            </a:r>
          </a:p>
          <a:p>
            <a:pPr algn="l"/>
            <a:r>
              <a:rPr sz="1200">
                <a:solidFill>
                  <a:srgbClr val="00B4D8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A significant share of transactions end in payment default (calote)</a:t>
            </a:r>
          </a:p>
          <a:p>
            <a:pPr algn="l"/>
            <a:r>
              <a:rPr sz="1200">
                <a:solidFill>
                  <a:srgbClr val="00B4D8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Defaults directly impact revenue, cash flow, and financial planning</a:t>
            </a:r>
          </a:p>
          <a:p>
            <a:pPr algn="l"/>
            <a:r>
              <a:rPr sz="1200">
                <a:solidFill>
                  <a:srgbClr val="00B4D8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Manual review is costly and inconsistent at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34440"/>
            <a:ext cx="4023360" cy="53035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7E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737360"/>
            <a:ext cx="374903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06D67E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Build a probabilistic ML model to predict default risk</a:t>
            </a:r>
          </a:p>
          <a:p>
            <a:pPr algn="l"/>
            <a:r>
              <a:rPr sz="1200">
                <a:solidFill>
                  <a:srgbClr val="06D67E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Assess each purchase order BEFORE finalisation</a:t>
            </a:r>
          </a:p>
          <a:p>
            <a:pPr algn="l"/>
            <a:r>
              <a:rPr sz="1200">
                <a:solidFill>
                  <a:srgbClr val="06D67E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Output: probability score + binary decision</a:t>
            </a:r>
          </a:p>
          <a:p>
            <a:pPr algn="l"/>
            <a:r>
              <a:rPr sz="1200">
                <a:solidFill>
                  <a:srgbClr val="06D67E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Support 3 threshold modes for different risk strategies</a:t>
            </a:r>
          </a:p>
          <a:p>
            <a:pPr algn="l"/>
            <a:r>
              <a:rPr sz="1200">
                <a:solidFill>
                  <a:srgbClr val="06D67E"/>
                </a:solidFill>
                <a:latin typeface="Calibri"/>
              </a:rPr>
              <a:t>▶  </a:t>
            </a:r>
            <a:r>
              <a:rPr sz="1300">
                <a:solidFill>
                  <a:srgbClr val="FFFFFF"/>
                </a:solidFill>
                <a:latin typeface="Calibri"/>
              </a:rPr>
              <a:t>Enable data-driven credit approval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02 — Data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234440"/>
            <a:ext cx="1664208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28016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122,500+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830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Transactions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5104" y="1234440"/>
            <a:ext cx="1664208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0824" y="128016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2017–2019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0824" y="17830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Time 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67328" y="1234440"/>
            <a:ext cx="1664208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28016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17830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Raw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9552" y="1234440"/>
            <a:ext cx="1664208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5272" y="128016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~16–17%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17830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Default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1234440"/>
            <a:ext cx="1664208" cy="1005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7496" y="1280160"/>
            <a:ext cx="15727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22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783080"/>
            <a:ext cx="15727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Dataset Size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423160"/>
            <a:ext cx="2834640" cy="4069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48716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Internal (Client History)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852928"/>
            <a:ext cx="265176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92608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default_3months — Past defaults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ioi_36months / ioi_3months — Order frequency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valor_por_vencer — Pending payments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valor_vencido — Overdue amount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valor_quitado — Historically paid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423160"/>
            <a:ext cx="2834640" cy="4069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248716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  <a:latin typeface="Calibri"/>
              </a:rPr>
              <a:t>External (Credit Bureau)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852928"/>
            <a:ext cx="2651760" cy="2743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292608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0E0EF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quant_protestos — # of legal protests</a:t>
            </a:r>
          </a:p>
          <a:p>
            <a:pPr algn="l"/>
            <a:r>
              <a:rPr sz="1000">
                <a:solidFill>
                  <a:srgbClr val="90E0EF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valor_protestos — Protest amount (R$)</a:t>
            </a:r>
          </a:p>
          <a:p>
            <a:pPr algn="l"/>
            <a:r>
              <a:rPr sz="1000">
                <a:solidFill>
                  <a:srgbClr val="90E0EF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6 variables excluded (≥99% zeros)</a:t>
            </a:r>
          </a:p>
          <a:p>
            <a:pPr algn="l"/>
            <a:r>
              <a:rPr sz="1000">
                <a:solidFill>
                  <a:srgbClr val="90E0EF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  ▷ participacao_falencia_valor (100%)</a:t>
            </a:r>
          </a:p>
          <a:p>
            <a:pPr algn="l"/>
            <a:r>
              <a:rPr sz="1000">
                <a:solidFill>
                  <a:srgbClr val="90E0EF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  ▷ falencia_concordata_qtd (99.95%)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423160"/>
            <a:ext cx="2834640" cy="4069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248716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Calibri"/>
              </a:rPr>
              <a:t>Categorical /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852928"/>
            <a:ext cx="265176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2926080"/>
            <a:ext cx="2697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tipo_sociedade — Business type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opcao_tributaria — Tax regime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atividade_principal — Main activity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forma_pagamento — Payment form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valor_total_pedido,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03 —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64008" cy="2423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441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Maturity Bias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64792"/>
            <a:ext cx="3886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Recent months show artificially low default rates (8–10%) vs mature cohorts (18–20%) because payment cycles are incomplete. StratifiedKFold CV was chosen over out-of-time split to avoid penalising the model unfairly.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34440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64008" cy="2423160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34416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7E"/>
                </a:solidFill>
                <a:latin typeface="Calibri"/>
              </a:rPr>
              <a:t>Statistical Significance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64792"/>
            <a:ext cx="3886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Mann-Whitney U tests with effect sizes confirmed that overdue amounts, protest counts, and order frequency are statistically significant predictors of default.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64008" cy="2423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8C00"/>
                </a:solidFill>
                <a:latin typeface="Calibri"/>
              </a:rPr>
              <a:t>Data Quality Issues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70832"/>
            <a:ext cx="3886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144 records (0.12%) with negative order values removed — likely data-entry errors or cancellations. 6 Serasa variables with ≥99% zeros excluded as they carry no predictive power.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4160520" cy="2423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840480"/>
            <a:ext cx="64008" cy="242316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95020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  <a:latin typeface="Calibri"/>
              </a:rPr>
              <a:t>Cluster Profiles (K-Means + PCA)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370832"/>
            <a:ext cx="3886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K-Means clustering revealed distinct risk groups: low-risk frequent buyers, high-risk first-timers with overdue balances, and medium-risk clients with legal protests.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04 — 7 Business-Driven Derived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41605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4160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3258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total_exposto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161848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Total financial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89280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Formula: vencido + por_vencer + quitado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234440"/>
            <a:ext cx="41605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234440"/>
            <a:ext cx="4160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3258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Calibri"/>
              </a:rPr>
              <a:t>razao_inadimplencia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61848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Delinquency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189280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Formula: vencido / (total_exposto + 1)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51760"/>
            <a:ext cx="41605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651760"/>
            <a:ext cx="4160520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274320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7E"/>
                </a:solidFill>
                <a:latin typeface="Calibri"/>
              </a:rPr>
              <a:t>taxa_cobertura_divida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303580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Historical payment capacity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" y="331012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Formula: quitado / (pedido + 1)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651760"/>
            <a:ext cx="41605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2651760"/>
            <a:ext cx="4160520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74320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  <a:latin typeface="Calibri"/>
              </a:rPr>
              <a:t>razao_vencido_pedido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03580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Current leverage ratio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31012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Formula: vencido / (pedido + 1)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069080"/>
            <a:ext cx="41605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4069080"/>
            <a:ext cx="41605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416052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8C00"/>
                </a:solidFill>
                <a:latin typeface="Calibri"/>
              </a:rPr>
              <a:t>flag_risco_juridico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" y="44531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Binary legal-risk 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472744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Formula: 1 if quant_protestos &gt; 0 else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4069080"/>
            <a:ext cx="41605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4069080"/>
            <a:ext cx="4160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8" y="416052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ticket_medio_protestos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445312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Avg. protest severity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7448" y="472744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Formula: valor_protestos / (quant_protestos + 1)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486400"/>
            <a:ext cx="4160520" cy="12344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5486400"/>
            <a:ext cx="4160520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557784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7E"/>
                </a:solidFill>
                <a:latin typeface="Calibri"/>
              </a:rPr>
              <a:t>qtd_parcelas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" y="5870448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Payment-complexity proxy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" y="6144768"/>
            <a:ext cx="3977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Formula: count('/') in forma_pagamento + 1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04b — ColumnTransformer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508760"/>
            <a:ext cx="1417320" cy="914400"/>
          </a:xfrm>
          <a:prstGeom prst="rect">
            <a:avLst/>
          </a:prstGeom>
          <a:solidFill>
            <a:srgbClr val="2D3A4A"/>
          </a:solidFill>
          <a:ln w="12700">
            <a:solidFill>
              <a:srgbClr val="2D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60020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Raw Input
18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7107" y="1764792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17420" y="1508760"/>
            <a:ext cx="14173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3139" y="160020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ColumnTransformer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3027" y="1764792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63339" y="1508760"/>
            <a:ext cx="14173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9059" y="160020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D67E"/>
                </a:solidFill>
                <a:latin typeface="Calibri"/>
              </a:rPr>
              <a:t>Processed Output
28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8947" y="1764792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9260" y="1508760"/>
            <a:ext cx="14173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4980" y="160020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8C00"/>
                </a:solidFill>
                <a:latin typeface="Calibri"/>
              </a:rPr>
              <a:t>XGBoost
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4868" y="1764792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4D8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5180" y="1508760"/>
            <a:ext cx="141732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900" y="160020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D8"/>
                </a:solidFill>
                <a:latin typeface="Calibri"/>
              </a:rPr>
              <a:t>Default
Probability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788920"/>
            <a:ext cx="2560320" cy="3566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88920"/>
            <a:ext cx="25603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  <a:latin typeface="Calibri"/>
              </a:rPr>
              <a:t>Numeric (16 features)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2461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SimpleImputer (median)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RobustScaler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788920"/>
            <a:ext cx="2560320" cy="3566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2788920"/>
            <a:ext cx="2560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High-Cardinality (3)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2461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SimpleImputer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Target Encoding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tipo_sociedade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atividade_principal</a:t>
            </a:r>
          </a:p>
          <a:p>
            <a:pPr algn="l"/>
            <a:r>
              <a:rPr sz="1000">
                <a:solidFill>
                  <a:srgbClr val="FF8C00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forma_pagamento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788920"/>
            <a:ext cx="2560320" cy="3566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788920"/>
            <a:ext cx="2560320" cy="54864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80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D67E"/>
                </a:solidFill>
                <a:latin typeface="Calibri"/>
              </a:rPr>
              <a:t>Low-Cardinality (2)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4612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6D67E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SimpleImputer</a:t>
            </a:r>
          </a:p>
          <a:p>
            <a:pPr algn="l"/>
            <a:r>
              <a:rPr sz="1000">
                <a:solidFill>
                  <a:srgbClr val="06D67E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OneHotEncoder</a:t>
            </a:r>
          </a:p>
          <a:p>
            <a:pPr algn="l"/>
            <a:r>
              <a:rPr sz="1000">
                <a:solidFill>
                  <a:srgbClr val="06D67E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opcao_tributaria</a:t>
            </a:r>
          </a:p>
          <a:p>
            <a:pPr algn="l"/>
            <a:r>
              <a:rPr sz="1000">
                <a:solidFill>
                  <a:srgbClr val="06D67E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month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05 — 6 Algorithms Evaluated with StratifiedKFold CV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069080" cy="1508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441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ROC-AUC: 0.82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1226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Baseline linear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234440"/>
            <a:ext cx="4069080" cy="1508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3441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Decision 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7373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ROC-AUC: 0.84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11226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Interpretable but overfit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4069080" cy="1508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0358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429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ROC-AUC: 0.90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8039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Solid ensemble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926080"/>
            <a:ext cx="4069080" cy="1508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0358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Gradient Boosting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429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ROC-AUC: 0.91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80390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Strong generalisation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17720"/>
            <a:ext cx="4069080" cy="1508760"/>
          </a:xfrm>
          <a:prstGeom prst="rect">
            <a:avLst/>
          </a:prstGeom>
          <a:solidFill>
            <a:srgbClr val="063606"/>
          </a:solidFill>
          <a:ln w="25400">
            <a:solidFill>
              <a:srgbClr val="06D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47274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7E"/>
                </a:solidFill>
                <a:latin typeface="Calibri"/>
              </a:rPr>
              <a:t>XGBoost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120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6D67E"/>
                </a:solidFill>
                <a:latin typeface="Calibri"/>
              </a:rPr>
              <a:t>ROC-AUC: 0.92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49554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D67E"/>
                </a:solidFill>
                <a:latin typeface="Calibri"/>
              </a:rPr>
              <a:t>★ Best overall — Selected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617720"/>
            <a:ext cx="4069080" cy="15087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7274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LightGBM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51206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ROC-AUC: 0.91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549554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alibri"/>
              </a:rPr>
              <a:t>Close runner-up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08 — XGBoost Final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697480" cy="1280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6D67E"/>
                </a:solidFill>
                <a:latin typeface="Calibri"/>
              </a:rPr>
              <a:t>0.9251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Calibri"/>
              </a:rPr>
              <a:t>Test ROC-AUC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34440"/>
            <a:ext cx="2697480" cy="1280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9844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B4D8"/>
                </a:solidFill>
                <a:latin typeface="Calibri"/>
              </a:rPr>
              <a:t>0.9197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9659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Calibri"/>
              </a:rPr>
              <a:t>CV ROC-AUC Mean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2697480" cy="128016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298448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90E0EF"/>
                </a:solidFill>
                <a:latin typeface="Calibri"/>
              </a:rPr>
              <a:t>±0.0021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  <a:latin typeface="Calibri"/>
              </a:rPr>
              <a:t>CV ROC-AUC Std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1965960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0.6709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F1-Score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2697480"/>
            <a:ext cx="1965960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0.5691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46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Precision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697480"/>
            <a:ext cx="1965960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0.8170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46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Recall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697480"/>
            <a:ext cx="1965960" cy="96012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74320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B4D8"/>
                </a:solidFill>
                <a:latin typeface="Calibri"/>
              </a:rPr>
              <a:t>0.647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246120"/>
            <a:ext cx="18745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0E0EF"/>
                </a:solidFill>
                <a:latin typeface="Calibri"/>
              </a:rPr>
              <a:t>Threshold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8321040" cy="26974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1363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Interpretation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297680"/>
            <a:ext cx="80467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Excellent discrimination ability — ROC-AUC &gt; 0.92 places this model in the top tier of credit risk systems</a:t>
            </a:r>
          </a:p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Strong recall (81.7%) — captures most actual defaults, minimising financial exposure</a:t>
            </a:r>
          </a:p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Acceptable precision (56.9%) — some false alarms, manageable with threshold tuning</a:t>
            </a:r>
          </a:p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Highly stable across folds — CV std of ±0.21% confirms the model generalises reliably</a:t>
            </a:r>
          </a:p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Class imbalance (~16% defaults) handled via class_weight='balanced' in XGBoost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Model Interpretability — SHAP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06 — Why Does the Model Predict Default?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Top Predictive Features (SHAP Importance)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Delinquency Ratio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764792"/>
            <a:ext cx="5038344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38744" y="176479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00"/>
                </a:solidFill>
                <a:latin typeface="Calibri"/>
              </a:rPr>
              <a:t>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Overdue Amount (R$)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386584"/>
            <a:ext cx="4667097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7497" y="238658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00"/>
                </a:solidFill>
                <a:latin typeface="Calibri"/>
              </a:rPr>
              <a:t>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809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# Legal Protests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008376"/>
            <a:ext cx="4030675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1075" y="300837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0273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Overdue-to-Order Ratio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630168"/>
            <a:ext cx="3712463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12863" y="363016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245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Recency of Orders (3M)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4251960"/>
            <a:ext cx="3288182" cy="34747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8582" y="42519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7E"/>
                </a:solidFill>
                <a:latin typeface="Calibri"/>
              </a:rPr>
              <a:t>62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Past Defaults (3M)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873752"/>
            <a:ext cx="3076041" cy="34747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6441" y="487375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8C00"/>
                </a:solidFill>
                <a:latin typeface="Calibri"/>
              </a:rPr>
              <a:t>58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68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Total Financial Exposure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5495544"/>
            <a:ext cx="265176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59" y="549554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  <a:latin typeface="Calibri"/>
              </a:rPr>
              <a:t>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08990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Historical Payment Capacity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6117336"/>
            <a:ext cx="2227478" cy="34747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27878" y="61173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D67E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Threshold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07 — 3 Configurable Decision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234440"/>
            <a:ext cx="2834640" cy="5257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234440"/>
            <a:ext cx="28346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F1 — Balanced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Threshold: 0.647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  <a:latin typeface="Calibri"/>
              </a:rPr>
              <a:t>Default Recommendation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78608"/>
            <a:ext cx="26060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65176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Balances precision and recall equally. Best for general-purpose deployment when both false positives (missed sales) and false negatives (uncollected debt) carry similar costs.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24528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Precision: 56.9%</a:t>
            </a:r>
          </a:p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Recall: 81.7%</a:t>
            </a:r>
          </a:p>
          <a:p>
            <a:pPr algn="l"/>
            <a:r>
              <a:rPr sz="1100">
                <a:solidFill>
                  <a:srgbClr val="00B4D8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F1-Score: 67.1%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234440"/>
            <a:ext cx="2834640" cy="5257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18688" y="1234440"/>
            <a:ext cx="28346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8416" y="13258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Calibri"/>
              </a:rPr>
              <a:t>F2 — Capture Defaults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8416" y="17190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Threshold: 0.462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28416" y="22128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Maximise Default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8416" y="2578608"/>
            <a:ext cx="260604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265176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Prioritises recall over precision. Recommended when the financial cost of a missed default far exceeds the cost of rejecting a legitimate buyer.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4224528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Higher Recall</a:t>
            </a:r>
          </a:p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Lower Precision</a:t>
            </a:r>
          </a:p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Minimises Financial Loss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1234440"/>
            <a:ext cx="2834640" cy="5257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1234440"/>
            <a:ext cx="2834640" cy="64008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13258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7E"/>
                </a:solidFill>
                <a:latin typeface="Calibri"/>
              </a:rPr>
              <a:t>F0.5 — Avoid False Alarms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1719072"/>
            <a:ext cx="2606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Threshold: 0.793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22128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D67E"/>
                </a:solidFill>
                <a:latin typeface="Calibri"/>
              </a:rPr>
              <a:t>Minimise False Rejections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1072" y="2578608"/>
            <a:ext cx="2606040" cy="27432"/>
          </a:xfrm>
          <a:prstGeom prst="rect">
            <a:avLst/>
          </a:prstGeom>
          <a:solidFill>
            <a:srgbClr val="06D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65176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Prioritises precision over recall. Best when retaining customers is critical and the business can tolerate occasional defaults.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4224528"/>
            <a:ext cx="2606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Higher Precision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Lower Recall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Maximises Sales Approval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Prediction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09 — How to Use the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114800" cy="5257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Input Features (dict)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0E0EF"/>
                </a:solidFill>
                <a:latin typeface="Courier New"/>
              </a:rPr>
              <a:t>input_dict = {
  "default_3months": 0,
  "ioi_36months": 18.2,
  "ioi_3months": 5.0,
  "valor_por_vencer": 10000,
  "valor_vencido": 50000,
  "valor_quitado": 500000,
  "quant_protestos": 0,
  "valor_protestos": 0,
  "valor_total_pedido": 35000,
  "tipo_sociedade": "ltda",
  "opcao_tributaria": "simples",
  "atividade_principal": "...",
  "forma_pagamento": "30/60/90",
  "month": 6
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34440"/>
            <a:ext cx="4206240" cy="52578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2984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D67E"/>
                </a:solidFill>
                <a:latin typeface="Calibri"/>
              </a:rPr>
              <a:t>Output &amp; Function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719072"/>
            <a:ext cx="3931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ourier New"/>
              </a:rPr>
              <a:t>result = predict_default(
    input_dict,
    threshold=0.647
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578608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0E0EF"/>
                </a:solidFill>
                <a:latin typeface="Courier New"/>
              </a:rPr>
              <a:t># Returns:
{
  "default": 0 or 1,
  "probability": 0.0–1.0,
  "confidence": 0.0–1.0,
  "threshold_used": 0.647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4096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Automatic 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480560"/>
            <a:ext cx="3931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Derives all 7 engineered features automatically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Handles missing values &amp; unknown categories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Validates negative order values</a:t>
            </a:r>
          </a:p>
          <a:p>
            <a:pPr algn="l"/>
            <a:r>
              <a:rPr sz="1000">
                <a:solidFill>
                  <a:srgbClr val="00B4D8"/>
                </a:solidFill>
                <a:latin typeface="Calibri"/>
              </a:rPr>
              <a:t>▶  </a:t>
            </a:r>
            <a:r>
              <a:rPr sz="1100">
                <a:solidFill>
                  <a:srgbClr val="FFFFFF"/>
                </a:solidFill>
                <a:latin typeface="Calibri"/>
              </a:rPr>
              <a:t>Supports batch prediction via predict_default_batch()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  <a:latin typeface="Calibri"/>
              </a:rPr>
              <a:t>Conclusions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  <a:latin typeface="Calibri"/>
              </a:rPr>
              <a:t>10 — Summary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9264"/>
            <a:ext cx="8229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5394960" cy="3291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D67E"/>
                </a:solidFill>
                <a:latin typeface="Calibri"/>
              </a:rPr>
              <a:t>✓  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19072"/>
            <a:ext cx="5120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ROC-AUC of 0.9251 — excellent credit-risk discrimination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Recall of 81.7% — captures most actual defaults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Maturity bias identified and mitigated (StratifiedKFold)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7 business-driven features engineered from raw data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SHAP analysis provides full prediction explainability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3 threshold modes for flexible business deployment</a:t>
            </a:r>
          </a:p>
          <a:p>
            <a:pPr algn="l"/>
            <a:r>
              <a:rPr sz="1100">
                <a:solidFill>
                  <a:srgbClr val="06D67E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Production-ready: serialised pipeline + standalone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234440"/>
            <a:ext cx="2971800" cy="329184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2984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8C00"/>
                </a:solidFill>
                <a:latin typeface="Calibri"/>
              </a:rPr>
              <a:t>→ 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719072"/>
            <a:ext cx="27432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Probability calibration (Platt / Isotonic)</a:t>
            </a:r>
          </a:p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Ensemble methods (stacking / blending)</a:t>
            </a:r>
          </a:p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REST API via FastAPI + Docker</a:t>
            </a:r>
          </a:p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Real-time monitoring &amp; drift alerts</a:t>
            </a:r>
          </a:p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Model Cards &amp; fairness analysis</a:t>
            </a:r>
          </a:p>
          <a:p>
            <a:pPr algn="l"/>
            <a:r>
              <a:rPr sz="1100">
                <a:solidFill>
                  <a:srgbClr val="FF8C00"/>
                </a:solidFill>
                <a:latin typeface="Calibri"/>
              </a:rPr>
              <a:t>▶  </a:t>
            </a:r>
            <a:r>
              <a:rPr sz="1200">
                <a:solidFill>
                  <a:srgbClr val="FFFFFF"/>
                </a:solidFill>
                <a:latin typeface="Calibri"/>
              </a:rPr>
              <a:t>Model Registry &amp; versioning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709160"/>
            <a:ext cx="8549640" cy="178308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77316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Technology 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Python 3.8+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90472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27048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XGBoost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9464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scikit-learn 1.3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48456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SHAP 0.43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024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LightGBM 4.0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43016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Pandas 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85432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22008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Matplotlib / Seaborn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64423" y="5166360"/>
            <a:ext cx="1005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0999" y="518464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  <a:latin typeface="Calibri"/>
              </a:rPr>
              <a:t>joblib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64592" cy="66385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632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0E0EF"/>
                </a:solidFill>
                <a:latin typeface="Calibri"/>
              </a:rPr>
              <a:t>X-Health Default Prediction Model  |  Kognita Lab  | 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361188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749039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  <a:latin typeface="Calibri"/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